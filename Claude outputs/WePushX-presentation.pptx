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d587b62-8232-5bf6-a0db-13a5c67be7eb/scratchpad/assets/mark-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84048"/>
            <a:ext cx="402336" cy="35138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2416" y="3566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WePush</a:t>
            </a:r>
            <a:pPr indent="0" marL="0">
              <a:buNone/>
            </a:pPr>
            <a:r>
              <a:rPr lang="en-US" sz="1200" b="1" spc="-3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188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(→)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42416" y="1289304"/>
            <a:ext cx="38404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99616" y="11887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AGENCE MARKETING DIGITAL — MAROC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572768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spc="-6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transforme votre présence digitale en</a:t>
            </a:r>
            <a:pPr indent="0" marL="0">
              <a:lnSpc>
                <a:spcPts val="3808"/>
              </a:lnSpc>
              <a:buNone/>
            </a:pPr>
            <a:r>
              <a:rPr lang="en-US" sz="3600" i="1" spc="-30" kern="0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machine à clients.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2918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web, landing pages, campagnes publicitaires, contenu UGC par IA et CRM. Une équipe d'experts vérifiés, un seul objectif : faire croître votre business.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4343400"/>
            <a:ext cx="2148840" cy="457200"/>
          </a:xfrm>
          <a:prstGeom prst="roundRect">
            <a:avLst>
              <a:gd name="adj" fmla="val 46000"/>
            </a:avLst>
          </a:prstGeom>
          <a:solidFill>
            <a:srgbClr val="7A1C8C"/>
          </a:solidFill>
          <a:ln w="12700">
            <a:solidFill>
              <a:srgbClr val="7A1C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Voir nos offres  →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1663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80" kern="0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+18 %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5742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digitale / an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688336" y="51663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80" kern="0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 M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2688336" y="5742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Internautes au Maroc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487168" y="5212080"/>
            <a:ext cx="0" cy="82296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9744" y="51663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80" kern="0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20+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4809744" y="5742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accompagnés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08576" y="5212080"/>
            <a:ext cx="0" cy="82296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18120" y="1188720"/>
            <a:ext cx="3806647" cy="5029200"/>
          </a:xfrm>
          <a:prstGeom prst="roundRect">
            <a:avLst>
              <a:gd name="adj" fmla="val 1201"/>
            </a:avLst>
          </a:prstGeom>
          <a:solidFill>
            <a:srgbClr val="EFE8E0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0456" y="1572768"/>
            <a:ext cx="30019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 PROGRAMME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220456" y="21488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732520" y="2112264"/>
            <a:ext cx="2435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approche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220456" y="2697480"/>
            <a:ext cx="3001975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0456" y="29169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732520" y="2880360"/>
            <a:ext cx="2435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Résultats clients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220456" y="3465576"/>
            <a:ext cx="3001975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0456" y="36850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732520" y="3648456"/>
            <a:ext cx="2435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Méthodologie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220456" y="4233672"/>
            <a:ext cx="3001975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0456" y="44531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732520" y="4416552"/>
            <a:ext cx="2435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Offres &amp; tarifs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220456" y="5001768"/>
            <a:ext cx="3001975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0456" y="52212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732520" y="5184648"/>
            <a:ext cx="2435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Agents IA &amp; CRM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(01)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2416" y="576072"/>
            <a:ext cx="38404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99616" y="4754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APPROCHE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spc="-6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ne vend pas du « postage ». On construit un</a:t>
            </a:r>
            <a:pPr indent="0" marL="0">
              <a:lnSpc>
                <a:spcPts val="2800"/>
              </a:lnSpc>
              <a:buNone/>
            </a:pPr>
            <a:r>
              <a:rPr lang="en-US" sz="2700" i="1" spc="-30" kern="0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système de croissance.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8366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piliers interconnectés pour transformer chaque dirham investi en client.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395728"/>
            <a:ext cx="777240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53128" y="2624328"/>
            <a:ext cx="0" cy="310896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4178808"/>
            <a:ext cx="7223760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2688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9626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Sites &amp; Landing Pages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31012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Vitrines optimisées pour la conversion, e-commerces WooCommerce, LP par campagne avec A/B testing.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18888" y="2688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818888" y="29626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Campagnes Publicitaires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331012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&amp; Google Ads gérées par un traffic manager certifié. Ciblage précis, optimisation hebdomadaire.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4714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74573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par IA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509320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vidéos authentiques par mois pour le prix de 2 vidéos traditionnelles. Scripts, voix-off, montage tout en IA.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18888" y="44714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818888" y="474573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&amp; Automation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818888" y="509320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configuré sur mesure. Suivi des leads, relances automatiques, scoring, reporting pipeline.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0" y="2395728"/>
            <a:ext cx="2937967" cy="3566160"/>
          </a:xfrm>
          <a:prstGeom prst="roundRect">
            <a:avLst>
              <a:gd name="adj" fmla="val 1556"/>
            </a:avLst>
          </a:prstGeom>
          <a:solidFill>
            <a:srgbClr val="EFE8E0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34272" y="27797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2889504"/>
            <a:ext cx="1383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dédiée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34272" y="3584448"/>
            <a:ext cx="2243023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34272" y="380390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0" y="3913632"/>
            <a:ext cx="1383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spécialisés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34272" y="4608576"/>
            <a:ext cx="2243023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34272" y="48280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0" y="4937760"/>
            <a:ext cx="13834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(02)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2416" y="576072"/>
            <a:ext cx="38404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99616" y="4754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spc="-6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qu'on a déjà fait pour des entreprises</a:t>
            </a:r>
            <a:pPr indent="0" marL="0">
              <a:lnSpc>
                <a:spcPts val="3024"/>
              </a:lnSpc>
              <a:buNone/>
            </a:pPr>
            <a:r>
              <a:rPr lang="en-US" sz="2900" i="1" spc="-30" kern="0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comme la vôtre.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8366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chiffres concrets, pas du blabla marketing.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487168"/>
            <a:ext cx="3533546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" y="2907792"/>
            <a:ext cx="27654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60" kern="0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+340 %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858768"/>
            <a:ext cx="27654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Trafic qualifié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50976" y="4315968"/>
            <a:ext cx="2765450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4462272"/>
            <a:ext cx="27654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— SEO local + Google Ads en 3 mois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9074" y="2487168"/>
            <a:ext cx="3533546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3122" y="2907792"/>
            <a:ext cx="27654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60" kern="0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–42 %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713122" y="3858768"/>
            <a:ext cx="27654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Coût d'acquisition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13122" y="4315968"/>
            <a:ext cx="2765450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13122" y="4462272"/>
            <a:ext cx="27654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mode — UGC IA + LP optimisées sur Meta Ads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1221" y="2487168"/>
            <a:ext cx="3533546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75269" y="2907792"/>
            <a:ext cx="27654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60" kern="0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8475269" y="3858768"/>
            <a:ext cx="27654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 / mois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75269" y="4315968"/>
            <a:ext cx="2765450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75269" y="4462272"/>
            <a:ext cx="27654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— Site + Meta Ads + CRM automation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(02)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2416" y="576072"/>
            <a:ext cx="38404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99616" y="4754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RÉSULTATS META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spc="-6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Campagnes Meta Ads réelles —</a:t>
            </a:r>
            <a:pPr indent="0" marL="0">
              <a:lnSpc>
                <a:spcPts val="2800"/>
              </a:lnSpc>
              <a:buNone/>
            </a:pPr>
            <a:r>
              <a:rPr lang="en-US" sz="2700" i="1" spc="-30" kern="0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comptes clients.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28320" y="2084832"/>
            <a:ext cx="10735056" cy="3560774"/>
          </a:xfrm>
          <a:prstGeom prst="roundRect">
            <a:avLst>
              <a:gd name="adj" fmla="val 1027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pic>
        <p:nvPicPr>
          <p:cNvPr id="7" name="Image 0" descr="/tmp/claude-0/-home-claude/ed587b62-8232-5bf6-a0db-13a5c67be7eb/scratchpad/assets/image1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2148840"/>
            <a:ext cx="10607040" cy="34327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580105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Données réelles. Comptes gérés par notre équipe.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(02)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2416" y="576072"/>
            <a:ext cx="38404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99616" y="4754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RÉSULTATS GOOGLE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spc="-6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Campagnes Google Ads réelles —</a:t>
            </a:r>
            <a:pPr indent="0" marL="0">
              <a:lnSpc>
                <a:spcPts val="2800"/>
              </a:lnSpc>
              <a:buNone/>
            </a:pPr>
            <a:r>
              <a:rPr lang="en-US" sz="2700" i="1" spc="-30" kern="0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comptes clients.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Clics, taux de conversion, conversions et coût par conversion sur des campagnes en production.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51280" y="2084832"/>
            <a:ext cx="9089136" cy="3705649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pic>
        <p:nvPicPr>
          <p:cNvPr id="8" name="Image 0" descr="/tmp/claude-0/-home-claude/ed587b62-8232-5bf6-a0db-13a5c67be7eb/scratchpad/assets/image1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288" y="2148840"/>
            <a:ext cx="8961120" cy="357763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5945929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Données réelles issues de Google Ads. Comptes gérés par notre équipe.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(03)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2416" y="576072"/>
            <a:ext cx="38404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99616" y="4754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MÉTHODOLOGIE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spc="-6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l'audit à la croissance</a:t>
            </a:r>
            <a:pPr indent="0" marL="0">
              <a:lnSpc>
                <a:spcPts val="3024"/>
              </a:lnSpc>
              <a:buNone/>
            </a:pPr>
            <a:r>
              <a:rPr lang="en-US" sz="2900" i="1" spc="-30" kern="0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 5 étapes.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91056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 éprouvé pour livrer des résultats dès le premier mois.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21408"/>
            <a:ext cx="2101840" cy="2615184"/>
          </a:xfrm>
          <a:prstGeom prst="roundRect">
            <a:avLst>
              <a:gd name="adj" fmla="val 2175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365760" cy="365760"/>
          </a:xfrm>
          <a:prstGeom prst="ellipse">
            <a:avLst/>
          </a:prstGeom>
          <a:solidFill>
            <a:srgbClr val="7A1C8C"/>
          </a:solidFill>
          <a:ln w="12700">
            <a:solidFill>
              <a:srgbClr val="7A1C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71216"/>
            <a:ext cx="158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gratuit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18688"/>
            <a:ext cx="1589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votre présence digitale actuelle, concurrence, opportunités. 30 min, 0 engagement.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05928" y="2121408"/>
            <a:ext cx="2101840" cy="2615184"/>
          </a:xfrm>
          <a:prstGeom prst="roundRect">
            <a:avLst>
              <a:gd name="adj" fmla="val 2175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1960" y="2377440"/>
            <a:ext cx="365760" cy="365760"/>
          </a:xfrm>
          <a:prstGeom prst="ellipse">
            <a:avLst/>
          </a:prstGeom>
          <a:solidFill>
            <a:srgbClr val="7A1C8C"/>
          </a:solidFill>
          <a:ln w="12700">
            <a:solidFill>
              <a:srgbClr val="7A1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1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61960" y="2871216"/>
            <a:ext cx="158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Stratégie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1960" y="3218688"/>
            <a:ext cx="1589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personnalisée avec ROI estimé, plan d'action sur 90 jours, KPIs définis.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44928" y="2121408"/>
            <a:ext cx="2101840" cy="2615184"/>
          </a:xfrm>
          <a:prstGeom prst="roundRect">
            <a:avLst>
              <a:gd name="adj" fmla="val 2175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0960" y="2377440"/>
            <a:ext cx="365760" cy="365760"/>
          </a:xfrm>
          <a:prstGeom prst="ellipse">
            <a:avLst/>
          </a:prstGeom>
          <a:solidFill>
            <a:srgbClr val="7A1C8C"/>
          </a:solidFill>
          <a:ln w="12700">
            <a:solidFill>
              <a:srgbClr val="7A1C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0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00960" y="2871216"/>
            <a:ext cx="158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00960" y="3218688"/>
            <a:ext cx="1589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technique en 7–14 jours : site, campagnes, CRM, outils de tracking.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83928" y="2121408"/>
            <a:ext cx="2101840" cy="2615184"/>
          </a:xfrm>
          <a:prstGeom prst="roundRect">
            <a:avLst>
              <a:gd name="adj" fmla="val 2175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39960" y="2377440"/>
            <a:ext cx="365760" cy="365760"/>
          </a:xfrm>
          <a:prstGeom prst="ellipse">
            <a:avLst/>
          </a:prstGeom>
          <a:solidFill>
            <a:srgbClr val="7A1C8C"/>
          </a:solidFill>
          <a:ln w="12700">
            <a:solidFill>
              <a:srgbClr val="7A1C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399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539960" y="2871216"/>
            <a:ext cx="158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Exécution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539960" y="3218688"/>
            <a:ext cx="1589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des campagnes, publication de contenu, gestion quotidienne, optimisation continue.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522927" y="2121408"/>
            <a:ext cx="2101840" cy="2615184"/>
          </a:xfrm>
          <a:prstGeom prst="roundRect">
            <a:avLst>
              <a:gd name="adj" fmla="val 2175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78959" y="2377440"/>
            <a:ext cx="365760" cy="365760"/>
          </a:xfrm>
          <a:prstGeom prst="ellipse">
            <a:avLst/>
          </a:prstGeom>
          <a:solidFill>
            <a:srgbClr val="7A1C8C"/>
          </a:solidFill>
          <a:ln w="12700">
            <a:solidFill>
              <a:srgbClr val="7A1C8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78959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778959" y="2871216"/>
            <a:ext cx="158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778959" y="3218688"/>
            <a:ext cx="1589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temps réel + réunion mensuelle. Ajustements stratégiques basés sur les données.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5029200"/>
            <a:ext cx="11057839" cy="896112"/>
          </a:xfrm>
          <a:prstGeom prst="roundRect">
            <a:avLst>
              <a:gd name="adj" fmla="val 5102"/>
            </a:avLst>
          </a:prstGeom>
          <a:solidFill>
            <a:srgbClr val="EFE8E0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9264" y="5029200"/>
            <a:ext cx="1025316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promesse   </a:t>
            </a:r>
            <a:pPr indent="0" marL="0">
              <a:buNone/>
            </a:pPr>
            <a:r>
              <a:rPr lang="en-US" sz="120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0 lead généré en 60 jours sur vos campagnes ads, on rembourse 100 % de notre commission de gestion.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(04)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2416" y="576072"/>
            <a:ext cx="38404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99616" y="4754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 OFFRES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spc="-6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forfaits clairs,</a:t>
            </a:r>
            <a:pPr indent="0" marL="0">
              <a:lnSpc>
                <a:spcPts val="3024"/>
              </a:lnSpc>
              <a:buNone/>
            </a:pPr>
            <a:r>
              <a:rPr lang="en-US" sz="2900" i="1" spc="-30" kern="0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sans surprise.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91056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prix sont en MAD HT. Engagement minimum 3 mois. Paiement mensuel.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157984"/>
            <a:ext cx="3533546" cy="3968496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414016"/>
            <a:ext cx="1521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761488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3 900</a:t>
            </a:r>
            <a:pPr indent="0" marL="0">
              <a:buNone/>
            </a:pPr>
            <a:r>
              <a:rPr lang="en-US" sz="1200" b="1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MAD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310128"/>
            <a:ext cx="2875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529584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Auto-entrepreneurs, professions libérales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96112" y="3931920"/>
            <a:ext cx="287517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059936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posts ads / mois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2748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274820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d'un canal (Meta ou Google)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4897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489704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mensuel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7045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704588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WhatsApp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6112" y="5504688"/>
            <a:ext cx="2875178" cy="402336"/>
          </a:xfrm>
          <a:prstGeom prst="roundRect">
            <a:avLst>
              <a:gd name="adj" fmla="val 52273"/>
            </a:avLst>
          </a:prstGeom>
          <a:solidFill>
            <a:srgbClr val="7A1C8C"/>
          </a:solidFill>
          <a:ln w="12700">
            <a:solidFill>
              <a:srgbClr val="7A1C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5504688"/>
            <a:ext cx="28751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Choisir Starter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29074" y="2157984"/>
            <a:ext cx="3533546" cy="3968496"/>
          </a:xfrm>
          <a:prstGeom prst="roundRect">
            <a:avLst>
              <a:gd name="adj" fmla="val 1294"/>
            </a:avLst>
          </a:prstGeom>
          <a:solidFill>
            <a:srgbClr val="140C1B"/>
          </a:solidFill>
          <a:ln w="9525">
            <a:solidFill>
              <a:srgbClr val="140C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9853" y="2414016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9331B3"/>
          </a:solidFill>
          <a:ln w="12700">
            <a:solidFill>
              <a:srgbClr val="9331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89853" y="2414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PLUS POPULAIRE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658258" y="2414016"/>
            <a:ext cx="1521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58258" y="2761488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D6A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6 900</a:t>
            </a:r>
            <a:pPr indent="0" marL="0">
              <a:buNone/>
            </a:pPr>
            <a:r>
              <a:rPr lang="en-US" sz="1200" b="1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MAD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4658258" y="3310128"/>
            <a:ext cx="2875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658258" y="3529584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PME, restaurants, boutiques, cliniques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58258" y="3931920"/>
            <a:ext cx="2875178" cy="0"/>
          </a:xfrm>
          <a:prstGeom prst="line">
            <a:avLst/>
          </a:prstGeom>
          <a:noFill/>
          <a:ln w="12700">
            <a:solidFill>
              <a:srgbClr val="3A2E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58258" y="40599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859426" y="4059936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posts ads / mois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658258" y="42748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859426" y="4274820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canaux : Meta + Google Ads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658258" y="44897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859426" y="4489704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+ stratégie mensuelle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658258" y="47045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859426" y="4704588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d'ajustement mensuelle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58258" y="5504688"/>
            <a:ext cx="2875178" cy="402336"/>
          </a:xfrm>
          <a:prstGeom prst="roundRect">
            <a:avLst>
              <a:gd name="adj" fmla="val 52273"/>
            </a:avLst>
          </a:prstGeom>
          <a:solidFill>
            <a:srgbClr val="9331B3"/>
          </a:solidFill>
          <a:ln w="12700">
            <a:solidFill>
              <a:srgbClr val="9331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58258" y="5504688"/>
            <a:ext cx="28751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Choisir Growth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91221" y="2157984"/>
            <a:ext cx="3533546" cy="3968496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20405" y="2414016"/>
            <a:ext cx="1521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420405" y="2761488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14 900</a:t>
            </a:r>
            <a:pPr indent="0" marL="0">
              <a:buNone/>
            </a:pPr>
            <a:r>
              <a:rPr lang="en-US" sz="1200" b="1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MAD</a:t>
            </a:r>
            <a:endParaRPr lang="en-US" sz="3000" dirty="0"/>
          </a:p>
        </p:txBody>
      </p:sp>
      <p:sp>
        <p:nvSpPr>
          <p:cNvPr id="44" name="Text 42"/>
          <p:cNvSpPr txBox="1"/>
          <p:nvPr/>
        </p:nvSpPr>
        <p:spPr>
          <a:xfrm>
            <a:off x="8420405" y="3310128"/>
            <a:ext cx="28751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420405" y="3529584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E-commerce, startups, moyennes entreprises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420405" y="3931920"/>
            <a:ext cx="287517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420405" y="40599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621573" y="4059936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digitale complète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8420405" y="42748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8621573" y="4274820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posts ads / mois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420405" y="44897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8621573" y="4489704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management multi-plateforme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420405" y="47045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8621573" y="4704588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gestion CRM inclus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8420405" y="49194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8621573" y="4919472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bi-mensuel + dashboard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420405" y="51343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621573" y="5134356"/>
            <a:ext cx="267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WhatsApp prioritaire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420405" y="5504688"/>
            <a:ext cx="2875178" cy="402336"/>
          </a:xfrm>
          <a:prstGeom prst="roundRect">
            <a:avLst>
              <a:gd name="adj" fmla="val 52273"/>
            </a:avLst>
          </a:prstGeom>
          <a:solidFill>
            <a:srgbClr val="7A1C8C"/>
          </a:solidFill>
          <a:ln w="12700">
            <a:solidFill>
              <a:srgbClr val="7A1C8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420405" y="5504688"/>
            <a:ext cx="28751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Choisir Scale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(04)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2416" y="576072"/>
            <a:ext cx="38404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99616" y="4754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SERVICES À LA CARTE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spc="-6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prestations one-shot,</a:t>
            </a:r>
            <a:pPr indent="0" marL="0">
              <a:lnSpc>
                <a:spcPts val="3024"/>
              </a:lnSpc>
              <a:buNone/>
            </a:pPr>
            <a:r>
              <a:rPr lang="en-US" sz="2900" i="1" spc="-30" kern="0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sans abonnement.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9105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besoin ponctuel : on livre, vous êtes propriétaire de tout.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353354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432304"/>
            <a:ext cx="29117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vitrine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743200"/>
            <a:ext cx="291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partir de 5 900 DH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054096"/>
            <a:ext cx="2911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 et 4 pages, optimisé mobile &amp; conversion.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29074" y="2194560"/>
            <a:ext cx="353354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9970" y="2432304"/>
            <a:ext cx="29117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 page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39970" y="2743200"/>
            <a:ext cx="291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partir de 2 500 DH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39970" y="3054096"/>
            <a:ext cx="2911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page optimisée pour la conversion, par campagne.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91221" y="2194560"/>
            <a:ext cx="353354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2117" y="2432304"/>
            <a:ext cx="29117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e-commerce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2743200"/>
            <a:ext cx="291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partir de 10 000 DH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3054096"/>
            <a:ext cx="2911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WordPress / Shopify, prêt à vendre.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904488"/>
            <a:ext cx="353354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4142232"/>
            <a:ext cx="29117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 + charte graphique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" y="4453128"/>
            <a:ext cx="291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partir de 4 000 DH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" y="4764024"/>
            <a:ext cx="2911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complète, adaptée à votre marque.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29074" y="3904488"/>
            <a:ext cx="353354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39970" y="4142232"/>
            <a:ext cx="29117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 5 vidéos UGC IA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639970" y="4453128"/>
            <a:ext cx="291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partir de 2 500 DH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39970" y="4764024"/>
            <a:ext cx="2911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rédigés pour convertir + qualité premium.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91221" y="3904488"/>
            <a:ext cx="353354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02117" y="4142232"/>
            <a:ext cx="29117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 CRM + Chatbot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402117" y="4453128"/>
            <a:ext cx="291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partir de 700 DH/mois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402117" y="4764024"/>
            <a:ext cx="2911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leads, relances auto, scoring, pipeline.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(05)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2416" y="576072"/>
            <a:ext cx="38404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99616" y="4754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 AGENTS IA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12"/>
              </a:lnSpc>
              <a:buNone/>
            </a:pPr>
            <a:r>
              <a:rPr lang="en-US" sz="2600" b="1" spc="-6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agents IA, une puissance</a:t>
            </a:r>
            <a:pPr indent="0" marL="0">
              <a:lnSpc>
                <a:spcPts val="2912"/>
              </a:lnSpc>
              <a:buNone/>
            </a:pPr>
            <a:r>
              <a:rPr lang="en-US" sz="2800" i="1" spc="-30" kern="0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qui grandit avec vous.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91056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inclut le niveau précédent. Vous montez en puissance uniquement quand vous en avez besoin.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3533546" cy="3931920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2468880"/>
            <a:ext cx="347472" cy="347472"/>
          </a:xfrm>
          <a:prstGeom prst="ellipse">
            <a:avLst/>
          </a:prstGeom>
          <a:solidFill>
            <a:srgbClr val="7A1C8C"/>
          </a:solidFill>
          <a:ln w="12700">
            <a:solidFill>
              <a:srgbClr val="7A1C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944368"/>
            <a:ext cx="29117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— Accueil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273552"/>
            <a:ext cx="29117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7824" y="3675888"/>
            <a:ext cx="2911754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38221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803904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aux clients 24/7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77824" y="41056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4087368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 automatiquement les prospects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" y="43891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4370832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sur site, WhatsApp, Instagram, Facebook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77824" y="46725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654296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 rendez-vous avec les prospects qualifiés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29074" y="2194560"/>
            <a:ext cx="3533546" cy="3931920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39970" y="2468880"/>
            <a:ext cx="347472" cy="347472"/>
          </a:xfrm>
          <a:prstGeom prst="ellipse">
            <a:avLst/>
          </a:prstGeom>
          <a:solidFill>
            <a:srgbClr val="7A1C8C"/>
          </a:solidFill>
          <a:ln w="12700">
            <a:solidFill>
              <a:srgbClr val="7A1C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3997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39970" y="2944368"/>
            <a:ext cx="29117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— CRM &amp; Suivi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639970" y="3273552"/>
            <a:ext cx="29117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 DH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39970" y="3675888"/>
            <a:ext cx="2911754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39970" y="38221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841138" y="3803904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à jour statut &amp; infos client sur le CRM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639970" y="41056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841138" y="4087368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humain sur cas particuliers (mail + WhatsApp)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639970" y="43891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841138" y="4370832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Follow-up, changement de stage, export Excel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639970" y="46725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841138" y="4654296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mail &amp; WhatsApp jusqu'au RDV / achat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91221" y="2194560"/>
            <a:ext cx="3533546" cy="3931920"/>
          </a:xfrm>
          <a:prstGeom prst="roundRect">
            <a:avLst>
              <a:gd name="adj" fmla="val 1294"/>
            </a:avLst>
          </a:prstGeom>
          <a:solidFill>
            <a:srgbClr val="140C1B"/>
          </a:solidFill>
          <a:ln w="9525">
            <a:solidFill>
              <a:srgbClr val="140C1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02117" y="2468880"/>
            <a:ext cx="347472" cy="347472"/>
          </a:xfrm>
          <a:prstGeom prst="ellipse">
            <a:avLst/>
          </a:prstGeom>
          <a:solidFill>
            <a:srgbClr val="9331B3"/>
          </a:solidFill>
          <a:ln w="12700">
            <a:solidFill>
              <a:srgbClr val="9331B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02117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271455" y="2487168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9331B3"/>
          </a:solidFill>
          <a:ln w="12700">
            <a:solidFill>
              <a:srgbClr val="9331B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71455" y="248716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4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REGROUPE TOUT</a:t>
            </a:r>
            <a:endParaRPr lang="en-US" sz="650" dirty="0"/>
          </a:p>
        </p:txBody>
      </p:sp>
      <p:sp>
        <p:nvSpPr>
          <p:cNvPr id="40" name="Text 38"/>
          <p:cNvSpPr txBox="1"/>
          <p:nvPr/>
        </p:nvSpPr>
        <p:spPr>
          <a:xfrm>
            <a:off x="8402117" y="2944368"/>
            <a:ext cx="29117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— Écosystème complet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402117" y="3273552"/>
            <a:ext cx="29117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A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 DH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02117" y="3675888"/>
            <a:ext cx="2911754" cy="0"/>
          </a:xfrm>
          <a:prstGeom prst="line">
            <a:avLst/>
          </a:prstGeom>
          <a:noFill/>
          <a:ln w="12700">
            <a:solidFill>
              <a:srgbClr val="3A2E4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402117" y="38221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8603285" y="3803904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intelligent multi-départements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402117" y="41056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603285" y="4087368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trackés vers site, LP ou calendrier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402117" y="43891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603285" y="4370832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interlocuteur du 1er message à l'achat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8402117" y="46725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8603285" y="4654296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bots coordonnés en coulisses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402117" y="49560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8603285" y="49377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dans plusieurs calendriers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402117" y="52395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8603285" y="5221224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de conversation envoyé par e-mail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331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(05)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42416" y="576072"/>
            <a:ext cx="384048" cy="0"/>
          </a:xfrm>
          <a:prstGeom prst="line">
            <a:avLst/>
          </a:prstGeom>
          <a:noFill/>
          <a:ln w="12700">
            <a:solidFill>
              <a:srgbClr val="DCD5C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99616" y="4754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F55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VOTRE CENTRE DE COMMANDE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spc="-60" kern="0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CRM tout-en-un qui</a:t>
            </a:r>
            <a:pPr indent="0" marL="0">
              <a:lnSpc>
                <a:spcPts val="3024"/>
              </a:lnSpc>
              <a:buNone/>
            </a:pPr>
            <a:r>
              <a:rPr lang="en-US" sz="2900" i="1" spc="-30" kern="0" dirty="0">
                <a:solidFill>
                  <a:srgbClr val="7A1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remplace 8 outils.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91056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Arrêtez de jongler entre Excel, WhatsApp, Google Sheets et 5 applications. Tout centralisé en un seul endroit.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3533546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2450592"/>
            <a:ext cx="237744" cy="237744"/>
          </a:xfrm>
          <a:prstGeom prst="ellipse">
            <a:avLst/>
          </a:prstGeom>
          <a:solidFill>
            <a:srgbClr val="E5DCD2"/>
          </a:solidFill>
          <a:ln w="12700">
            <a:solidFill>
              <a:srgbClr val="E5DC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32304"/>
            <a:ext cx="2619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 de leads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2798064"/>
            <a:ext cx="29117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Formulaires, landing pages, chatbot, appels — tous vos leads dans un pipeline structuré.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9074" y="2194560"/>
            <a:ext cx="3533546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9970" y="2450592"/>
            <a:ext cx="237744" cy="237744"/>
          </a:xfrm>
          <a:prstGeom prst="ellipse">
            <a:avLst/>
          </a:prstGeom>
          <a:solidFill>
            <a:srgbClr val="E5DCD2"/>
          </a:solidFill>
          <a:ln w="12700">
            <a:solidFill>
              <a:srgbClr val="E5DC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3997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950866" y="2432304"/>
            <a:ext cx="2619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de vente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39970" y="2798064"/>
            <a:ext cx="29117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Visualisez chaque prospect du 1er contact jusqu'à la signature. Rien n'est oublié.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91221" y="2194560"/>
            <a:ext cx="3533546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02117" y="2450592"/>
            <a:ext cx="237744" cy="237744"/>
          </a:xfrm>
          <a:prstGeom prst="ellipse">
            <a:avLst/>
          </a:prstGeom>
          <a:solidFill>
            <a:srgbClr val="E5DCD2"/>
          </a:solidFill>
          <a:ln w="12700">
            <a:solidFill>
              <a:srgbClr val="E5DC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2117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713013" y="2432304"/>
            <a:ext cx="2619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Rendez-vous automatisés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2798064"/>
            <a:ext cx="29117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prospects réservent dans votre calendrier. Fini les 15 emails pour un créneau.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749040"/>
            <a:ext cx="3533546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4005072"/>
            <a:ext cx="237744" cy="237744"/>
          </a:xfrm>
          <a:prstGeom prst="ellipse">
            <a:avLst/>
          </a:prstGeom>
          <a:solidFill>
            <a:srgbClr val="E5DCD2"/>
          </a:solidFill>
          <a:ln w="12700">
            <a:solidFill>
              <a:srgbClr val="E5DC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7824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986784"/>
            <a:ext cx="2619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&amp; SMS marketing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" y="4352544"/>
            <a:ext cx="29117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automatisées basées sur le comportement. Relancez les inactifs sans effort.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29074" y="3749040"/>
            <a:ext cx="3533546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9970" y="4005072"/>
            <a:ext cx="237744" cy="237744"/>
          </a:xfrm>
          <a:prstGeom prst="ellipse">
            <a:avLst/>
          </a:prstGeom>
          <a:solidFill>
            <a:srgbClr val="E5DCD2"/>
          </a:solidFill>
          <a:ln w="12700">
            <a:solidFill>
              <a:srgbClr val="E5DC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3997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950866" y="3986784"/>
            <a:ext cx="2619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Réputation &amp; avis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639970" y="4352544"/>
            <a:ext cx="29117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Collectez les avis Google après chaque service. Votre réputation se construit seule.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91221" y="3749040"/>
            <a:ext cx="3533546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02117" y="4005072"/>
            <a:ext cx="237744" cy="237744"/>
          </a:xfrm>
          <a:prstGeom prst="ellipse">
            <a:avLst/>
          </a:prstGeom>
          <a:solidFill>
            <a:srgbClr val="E5DCD2"/>
          </a:solidFill>
          <a:ln w="12700">
            <a:solidFill>
              <a:srgbClr val="E5DCD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02117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1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8713013" y="3986784"/>
            <a:ext cx="2619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0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 temps réel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402117" y="4352544"/>
            <a:ext cx="29117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taux de conversion, revenus, ROI par canal. Des décisions basées sur les données.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" y="5285232"/>
            <a:ext cx="11057839" cy="621792"/>
          </a:xfrm>
          <a:prstGeom prst="roundRect">
            <a:avLst>
              <a:gd name="adj" fmla="val 7353"/>
            </a:avLst>
          </a:prstGeom>
          <a:solidFill>
            <a:srgbClr val="EFE8E0"/>
          </a:solidFill>
          <a:ln w="9525">
            <a:solidFill>
              <a:srgbClr val="DCD5C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9264" y="5285232"/>
            <a:ext cx="102531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0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restent VOS données. Pas de vendor lock-in. Migration gratuite depuis n'importe quel outil.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d587b62-8232-5bf6-a0db-13a5c67be7eb/scratchpad/assets/mark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402336" cy="35138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2416" y="393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F7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WePush</a:t>
            </a:r>
            <a:pPr indent="0" marL="0">
              <a:buNone/>
            </a:pPr>
            <a:r>
              <a:rPr lang="en-US" sz="1200" b="1" spc="-30" kern="0" dirty="0">
                <a:solidFill>
                  <a:srgbClr val="D6A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298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A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(→)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42416" y="1399032"/>
            <a:ext cx="384048" cy="0"/>
          </a:xfrm>
          <a:prstGeom prst="line">
            <a:avLst/>
          </a:prstGeom>
          <a:noFill/>
          <a:ln w="12700">
            <a:solidFill>
              <a:srgbClr val="3A2E4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99616" y="12984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 ÉTAPE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6916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spc="-60" kern="0" dirty="0">
                <a:solidFill>
                  <a:srgbClr val="F7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Prêt à arrêter de jeter votre budget</a:t>
            </a:r>
            <a:pPr indent="0" marL="0">
              <a:lnSpc>
                <a:spcPts val="3472"/>
              </a:lnSpc>
              <a:buNone/>
            </a:pPr>
            <a:r>
              <a:rPr lang="en-US" sz="3300" i="1" spc="-30" kern="0" dirty="0">
                <a:solidFill>
                  <a:srgbClr val="D6A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 la fenêtre ?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5204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Réservez un audit gratuit de 30 minutes. On analyse votre présence digitale actuelle et on vous dit exactement où vous perdez de l'argent — sans engagement.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4572000"/>
            <a:ext cx="3200400" cy="493776"/>
          </a:xfrm>
          <a:prstGeom prst="roundRect">
            <a:avLst>
              <a:gd name="adj" fmla="val 42593"/>
            </a:avLst>
          </a:prstGeom>
          <a:solidFill>
            <a:srgbClr val="9331B3"/>
          </a:solidFill>
          <a:ln w="12700">
            <a:solidFill>
              <a:srgbClr val="9331B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457200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Réserver mon audit gratuit  →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6692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Garantie : remboursement de la commission de gestion si 0 lead généré en 60 jours sur les campagnes ads.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TVA de 20 % applicable si assujetti.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223760" y="1298448"/>
            <a:ext cx="4401007" cy="4572000"/>
          </a:xfrm>
          <a:prstGeom prst="roundRect">
            <a:avLst>
              <a:gd name="adj" fmla="val 1039"/>
            </a:avLst>
          </a:prstGeom>
          <a:solidFill>
            <a:srgbClr val="1F1429"/>
          </a:solidFill>
          <a:ln w="9525">
            <a:solidFill>
              <a:srgbClr val="3A2E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26096" y="1691640"/>
            <a:ext cx="3596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6A2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26096" y="2286000"/>
            <a:ext cx="35963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TÉLÉPHONE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7626096" y="2505456"/>
            <a:ext cx="3596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+212 783 777 433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26096" y="2944368"/>
            <a:ext cx="3596335" cy="0"/>
          </a:xfrm>
          <a:prstGeom prst="line">
            <a:avLst/>
          </a:prstGeom>
          <a:noFill/>
          <a:ln w="12700">
            <a:solidFill>
              <a:srgbClr val="3A2E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26096" y="3182112"/>
            <a:ext cx="35963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7626096" y="3401568"/>
            <a:ext cx="3596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contact@wepushx.com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626096" y="3840480"/>
            <a:ext cx="3596335" cy="0"/>
          </a:xfrm>
          <a:prstGeom prst="line">
            <a:avLst/>
          </a:prstGeom>
          <a:noFill/>
          <a:ln w="12700">
            <a:solidFill>
              <a:srgbClr val="3A2E4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26096" y="4078224"/>
            <a:ext cx="35963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WEB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7626096" y="4297680"/>
            <a:ext cx="3596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www.wepushx.com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626096" y="4736592"/>
            <a:ext cx="3596335" cy="0"/>
          </a:xfrm>
          <a:prstGeom prst="line">
            <a:avLst/>
          </a:prstGeom>
          <a:noFill/>
          <a:ln w="12700">
            <a:solidFill>
              <a:srgbClr val="3A2E4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26096" y="4974336"/>
            <a:ext cx="35963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VILLES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7626096" y="5193792"/>
            <a:ext cx="3596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Casablanca · Rabat · Marrakech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wepushx.com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1076127" y="6437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7C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WePushX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WePushX — Agence Marketing Digital</dc:title>
  <dc:subject>PptxGenJS Presentation</dc:subject>
  <dc:creator>WePushX</dc:creator>
  <cp:lastModifiedBy>WePushX</cp:lastModifiedBy>
  <cp:revision>1</cp:revision>
  <dcterms:created xsi:type="dcterms:W3CDTF">2026-09-30T20:47:22Z</dcterms:created>
  <dcterms:modified xsi:type="dcterms:W3CDTF">2026-09-30T20:47:22Z</dcterms:modified>
</cp:coreProperties>
</file>